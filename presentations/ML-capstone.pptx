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sldIdLst>
    <p:sldId id="256" r:id="rId2"/>
    <p:sldId id="257" r:id="rId3"/>
    <p:sldId id="258" r:id="rId4"/>
    <p:sldId id="259" r:id="rId5"/>
    <p:sldId id="273" r:id="rId6"/>
    <p:sldId id="260" r:id="rId7"/>
    <p:sldId id="261" r:id="rId8"/>
    <p:sldId id="262" r:id="rId9"/>
    <p:sldId id="274" r:id="rId10"/>
    <p:sldId id="263" r:id="rId11"/>
    <p:sldId id="275" r:id="rId12"/>
    <p:sldId id="264" r:id="rId13"/>
    <p:sldId id="265" r:id="rId14"/>
    <p:sldId id="266" r:id="rId15"/>
    <p:sldId id="276" r:id="rId16"/>
    <p:sldId id="267" r:id="rId17"/>
    <p:sldId id="268" r:id="rId18"/>
    <p:sldId id="269" r:id="rId19"/>
    <p:sldId id="270" r:id="rId20"/>
    <p:sldId id="271" r:id="rId21"/>
    <p:sldId id="272" r:id="rId2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0" autoAdjust="0"/>
    <p:restoredTop sz="94624" autoAdjust="0"/>
  </p:normalViewPr>
  <p:slideViewPr>
    <p:cSldViewPr>
      <p:cViewPr varScale="1">
        <p:scale>
          <a:sx n="70" d="100"/>
          <a:sy n="70" d="100"/>
        </p:scale>
        <p:origin x="-1156" y="-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15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71628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1765"/>
                  </a:srgbClr>
                </a:gs>
                <a:gs pos="60000">
                  <a:srgbClr val="FEFEFE">
                    <a:alpha val="0"/>
                  </a:srgb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/>
            <p:cNvSpPr/>
            <p:nvPr/>
          </p:nvSpPr>
          <p:spPr>
            <a:xfrm>
              <a:off x="1143000" y="0"/>
              <a:ext cx="80010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6000"/>
                  </a:srgbClr>
                </a:gs>
                <a:gs pos="61000">
                  <a:srgbClr val="FEFEFE">
                    <a:alpha val="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Freeform 9"/>
          <p:cNvSpPr/>
          <p:nvPr/>
        </p:nvSpPr>
        <p:spPr>
          <a:xfrm rot="10800000">
            <a:off x="891821" y="5617774"/>
            <a:ext cx="7382935" cy="537210"/>
          </a:xfrm>
          <a:custGeom>
            <a:avLst/>
            <a:gdLst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7785734 w 7955280"/>
              <a:gd name="connsiteY2" fmla="*/ 0 h 495300"/>
              <a:gd name="connsiteX3" fmla="*/ 7955280 w 7955280"/>
              <a:gd name="connsiteY3" fmla="*/ 495300 h 495300"/>
              <a:gd name="connsiteX4" fmla="*/ 0 w 7955280"/>
              <a:gd name="connsiteY4" fmla="*/ 495300 h 495300"/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3966210 w 7955280"/>
              <a:gd name="connsiteY2" fmla="*/ 95250 h 495300"/>
              <a:gd name="connsiteX3" fmla="*/ 7785734 w 7955280"/>
              <a:gd name="connsiteY3" fmla="*/ 0 h 495300"/>
              <a:gd name="connsiteX4" fmla="*/ 7955280 w 7955280"/>
              <a:gd name="connsiteY4" fmla="*/ 495300 h 495300"/>
              <a:gd name="connsiteX5" fmla="*/ 0 w 7955280"/>
              <a:gd name="connsiteY5" fmla="*/ 495300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955280" h="495300">
                <a:moveTo>
                  <a:pt x="0" y="495300"/>
                </a:moveTo>
                <a:lnTo>
                  <a:pt x="169546" y="0"/>
                </a:lnTo>
                <a:lnTo>
                  <a:pt x="3966210" y="95250"/>
                </a:lnTo>
                <a:lnTo>
                  <a:pt x="7785734" y="0"/>
                </a:lnTo>
                <a:lnTo>
                  <a:pt x="7955280" y="495300"/>
                </a:lnTo>
                <a:lnTo>
                  <a:pt x="0" y="495300"/>
                </a:lnTo>
                <a:close/>
              </a:path>
            </a:pathLst>
          </a:custGeom>
          <a:gradFill flip="none" rotWithShape="1">
            <a:gsLst>
              <a:gs pos="30000">
                <a:srgbClr val="010101">
                  <a:alpha val="34000"/>
                </a:srgbClr>
              </a:gs>
              <a:gs pos="100000">
                <a:srgbClr val="010101">
                  <a:alpha val="26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989952" y="1016990"/>
            <a:ext cx="7179733" cy="4831643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990600" y="1009650"/>
            <a:ext cx="7179733" cy="4831643"/>
          </a:xfrm>
          <a:prstGeom prst="rect">
            <a:avLst/>
          </a:prstGeom>
          <a:blipFill dpi="0" rotWithShape="1">
            <a:blip r:embed="rId2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1435684">
            <a:off x="769521" y="702069"/>
            <a:ext cx="567831" cy="567830"/>
          </a:xfrm>
          <a:prstGeom prst="rect">
            <a:avLst/>
          </a:prstGeom>
          <a:noFill/>
        </p:spPr>
      </p:pic>
      <p:pic>
        <p:nvPicPr>
          <p:cNvPr id="14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4096196">
            <a:off x="7855433" y="749720"/>
            <a:ext cx="566928" cy="566928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27201" y="1794935"/>
            <a:ext cx="5723468" cy="1828090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27200" y="3736622"/>
            <a:ext cx="5712179" cy="15240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770676" y="5357592"/>
            <a:ext cx="1213821" cy="365125"/>
          </a:xfrm>
        </p:spPr>
        <p:txBody>
          <a:bodyPr/>
          <a:lstStyle/>
          <a:p>
            <a:fld id="{222F9302-452D-465F-8213-86D466D48167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74044" y="5357592"/>
            <a:ext cx="503484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213930" y="5357592"/>
            <a:ext cx="554023" cy="365125"/>
          </a:xfrm>
        </p:spPr>
        <p:txBody>
          <a:bodyPr/>
          <a:lstStyle>
            <a:lvl1pPr algn="ctr">
              <a:defRPr/>
            </a:lvl1pPr>
          </a:lstStyle>
          <a:p>
            <a:fld id="{B251FB17-2A96-4297-A919-84C9CAA01A4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F9302-452D-465F-8213-86D466D48167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1FB17-2A96-4297-A919-84C9CAA01A4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979" y="2239430"/>
            <a:ext cx="6254044" cy="1362075"/>
          </a:xfrm>
        </p:spPr>
        <p:txBody>
          <a:bodyPr anchor="b"/>
          <a:lstStyle>
            <a:lvl1pPr algn="ctr">
              <a:defRPr sz="4000" b="0" cap="none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6267" y="3725334"/>
            <a:ext cx="6231467" cy="1309511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F9302-452D-465F-8213-86D466D48167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1FB17-2A96-4297-A919-84C9CAA01A4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F9302-452D-465F-8213-86D466D48167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1FB17-2A96-4297-A919-84C9CAA01A42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298448" y="2121407"/>
            <a:ext cx="3200400" cy="360273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63440" y="2119313"/>
            <a:ext cx="3200400" cy="360521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57869" y="2122312"/>
            <a:ext cx="2939521" cy="820208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10669" y="2122311"/>
            <a:ext cx="2944368" cy="822960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F9302-452D-465F-8213-86D466D48167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1FB17-2A96-4297-A919-84C9CAA01A42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1298448" y="2944368"/>
            <a:ext cx="3227832" cy="277977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645151" y="2944813"/>
            <a:ext cx="3227832" cy="277977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F9302-452D-465F-8213-86D466D48167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1FB17-2A96-4297-A919-84C9CAA01A4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F9302-452D-465F-8213-86D466D48167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1FB17-2A96-4297-A919-84C9CAA01A4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15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71628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1765"/>
                  </a:srgbClr>
                </a:gs>
                <a:gs pos="60000">
                  <a:srgbClr val="FEFEFE">
                    <a:alpha val="0"/>
                  </a:srgb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143000" y="0"/>
              <a:ext cx="80010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6000"/>
                  </a:srgbClr>
                </a:gs>
                <a:gs pos="61000">
                  <a:srgbClr val="FEFEFE">
                    <a:alpha val="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Freeform 10"/>
          <p:cNvSpPr/>
          <p:nvPr/>
        </p:nvSpPr>
        <p:spPr>
          <a:xfrm rot="10800000">
            <a:off x="632177" y="6058038"/>
            <a:ext cx="7721601" cy="537210"/>
          </a:xfrm>
          <a:custGeom>
            <a:avLst/>
            <a:gdLst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7785734 w 7955280"/>
              <a:gd name="connsiteY2" fmla="*/ 0 h 495300"/>
              <a:gd name="connsiteX3" fmla="*/ 7955280 w 7955280"/>
              <a:gd name="connsiteY3" fmla="*/ 495300 h 495300"/>
              <a:gd name="connsiteX4" fmla="*/ 0 w 7955280"/>
              <a:gd name="connsiteY4" fmla="*/ 495300 h 495300"/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3966210 w 7955280"/>
              <a:gd name="connsiteY2" fmla="*/ 95250 h 495300"/>
              <a:gd name="connsiteX3" fmla="*/ 7785734 w 7955280"/>
              <a:gd name="connsiteY3" fmla="*/ 0 h 495300"/>
              <a:gd name="connsiteX4" fmla="*/ 7955280 w 7955280"/>
              <a:gd name="connsiteY4" fmla="*/ 495300 h 495300"/>
              <a:gd name="connsiteX5" fmla="*/ 0 w 7955280"/>
              <a:gd name="connsiteY5" fmla="*/ 495300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955280" h="495300">
                <a:moveTo>
                  <a:pt x="0" y="495300"/>
                </a:moveTo>
                <a:lnTo>
                  <a:pt x="169546" y="0"/>
                </a:lnTo>
                <a:lnTo>
                  <a:pt x="3966210" y="95250"/>
                </a:lnTo>
                <a:lnTo>
                  <a:pt x="7785734" y="0"/>
                </a:lnTo>
                <a:lnTo>
                  <a:pt x="7955280" y="495300"/>
                </a:lnTo>
                <a:lnTo>
                  <a:pt x="0" y="495300"/>
                </a:lnTo>
                <a:close/>
              </a:path>
            </a:pathLst>
          </a:custGeom>
          <a:gradFill flip="none" rotWithShape="1">
            <a:gsLst>
              <a:gs pos="30000">
                <a:srgbClr val="010101">
                  <a:alpha val="34000"/>
                </a:srgbClr>
              </a:gs>
              <a:gs pos="100000">
                <a:srgbClr val="010101">
                  <a:alpha val="26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 rot="60000">
            <a:off x="4468872" y="605163"/>
            <a:ext cx="3788941" cy="5722296"/>
          </a:xfrm>
          <a:prstGeom prst="rect">
            <a:avLst/>
          </a:prstGeom>
          <a:solidFill>
            <a:schemeClr val="bg1"/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 rot="60000">
            <a:off x="4471416" y="603504"/>
            <a:ext cx="3788941" cy="5722296"/>
          </a:xfrm>
          <a:prstGeom prst="rect">
            <a:avLst/>
          </a:prstGeom>
          <a:blipFill dpi="0" rotWithShape="1">
            <a:blip r:embed="rId2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 rot="21540000">
            <a:off x="749204" y="576868"/>
            <a:ext cx="3788941" cy="5722296"/>
          </a:xfrm>
          <a:prstGeom prst="rect">
            <a:avLst/>
          </a:prstGeom>
          <a:solidFill>
            <a:schemeClr val="bg1"/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 rot="21540000">
            <a:off x="749808" y="576072"/>
            <a:ext cx="3788941" cy="5722296"/>
          </a:xfrm>
          <a:prstGeom prst="rect">
            <a:avLst/>
          </a:prstGeom>
          <a:blipFill dpi="0" rotWithShape="1">
            <a:blip r:embed="rId2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1435684">
            <a:off x="2371106" y="293953"/>
            <a:ext cx="567831" cy="567830"/>
          </a:xfrm>
          <a:prstGeom prst="rect">
            <a:avLst/>
          </a:prstGeom>
          <a:noFill/>
        </p:spPr>
      </p:pic>
      <p:pic>
        <p:nvPicPr>
          <p:cNvPr id="19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4096196">
            <a:off x="6279647" y="333163"/>
            <a:ext cx="566928" cy="566928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-60000">
            <a:off x="1108976" y="2020042"/>
            <a:ext cx="3064827" cy="1503037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 rot="60000">
            <a:off x="4854291" y="1150993"/>
            <a:ext cx="3020792" cy="4625489"/>
          </a:xfrm>
        </p:spPr>
        <p:txBody>
          <a:bodyPr anchor="ctr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 rot="-60000">
            <a:off x="1148125" y="3623748"/>
            <a:ext cx="3048891" cy="21004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 rot="60000">
            <a:off x="6341698" y="5885672"/>
            <a:ext cx="1213821" cy="365125"/>
          </a:xfrm>
        </p:spPr>
        <p:txBody>
          <a:bodyPr/>
          <a:lstStyle/>
          <a:p>
            <a:fld id="{222F9302-452D-465F-8213-86D466D48167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 rot="-60000">
            <a:off x="914554" y="5829261"/>
            <a:ext cx="352260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 rot="60000">
            <a:off x="7557313" y="5896961"/>
            <a:ext cx="554023" cy="365125"/>
          </a:xfrm>
        </p:spPr>
        <p:txBody>
          <a:bodyPr/>
          <a:lstStyle/>
          <a:p>
            <a:fld id="{B251FB17-2A96-4297-A919-84C9CAA01A4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15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71628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1765"/>
                  </a:srgbClr>
                </a:gs>
                <a:gs pos="60000">
                  <a:srgbClr val="FEFEFE">
                    <a:alpha val="0"/>
                  </a:srgb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143000" y="0"/>
              <a:ext cx="80010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6000"/>
                  </a:srgbClr>
                </a:gs>
                <a:gs pos="61000">
                  <a:srgbClr val="FEFEFE">
                    <a:alpha val="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1" name="Freeform 30"/>
          <p:cNvSpPr/>
          <p:nvPr/>
        </p:nvSpPr>
        <p:spPr>
          <a:xfrm rot="10800000">
            <a:off x="632177" y="6058038"/>
            <a:ext cx="7721601" cy="537210"/>
          </a:xfrm>
          <a:custGeom>
            <a:avLst/>
            <a:gdLst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7785734 w 7955280"/>
              <a:gd name="connsiteY2" fmla="*/ 0 h 495300"/>
              <a:gd name="connsiteX3" fmla="*/ 7955280 w 7955280"/>
              <a:gd name="connsiteY3" fmla="*/ 495300 h 495300"/>
              <a:gd name="connsiteX4" fmla="*/ 0 w 7955280"/>
              <a:gd name="connsiteY4" fmla="*/ 495300 h 495300"/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3966210 w 7955280"/>
              <a:gd name="connsiteY2" fmla="*/ 95250 h 495300"/>
              <a:gd name="connsiteX3" fmla="*/ 7785734 w 7955280"/>
              <a:gd name="connsiteY3" fmla="*/ 0 h 495300"/>
              <a:gd name="connsiteX4" fmla="*/ 7955280 w 7955280"/>
              <a:gd name="connsiteY4" fmla="*/ 495300 h 495300"/>
              <a:gd name="connsiteX5" fmla="*/ 0 w 7955280"/>
              <a:gd name="connsiteY5" fmla="*/ 495300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955280" h="495300">
                <a:moveTo>
                  <a:pt x="0" y="495300"/>
                </a:moveTo>
                <a:lnTo>
                  <a:pt x="169546" y="0"/>
                </a:lnTo>
                <a:lnTo>
                  <a:pt x="3966210" y="95250"/>
                </a:lnTo>
                <a:lnTo>
                  <a:pt x="7785734" y="0"/>
                </a:lnTo>
                <a:lnTo>
                  <a:pt x="7955280" y="495300"/>
                </a:lnTo>
                <a:lnTo>
                  <a:pt x="0" y="495300"/>
                </a:lnTo>
                <a:close/>
              </a:path>
            </a:pathLst>
          </a:custGeom>
          <a:gradFill flip="none" rotWithShape="1">
            <a:gsLst>
              <a:gs pos="30000">
                <a:srgbClr val="010101">
                  <a:alpha val="34000"/>
                </a:srgbClr>
              </a:gs>
              <a:gs pos="100000">
                <a:srgbClr val="010101">
                  <a:alpha val="26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 rot="21540000">
            <a:off x="749204" y="576868"/>
            <a:ext cx="3788941" cy="5722296"/>
          </a:xfrm>
          <a:prstGeom prst="rect">
            <a:avLst/>
          </a:prstGeom>
          <a:solidFill>
            <a:schemeClr val="bg1"/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 rot="21540000">
            <a:off x="745058" y="575769"/>
            <a:ext cx="3788941" cy="5722296"/>
          </a:xfrm>
          <a:prstGeom prst="rect">
            <a:avLst/>
          </a:prstGeom>
          <a:blipFill dpi="0" rotWithShape="1">
            <a:blip r:embed="rId2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 rot="60000">
            <a:off x="4468872" y="605163"/>
            <a:ext cx="3788941" cy="5722296"/>
          </a:xfrm>
          <a:prstGeom prst="rect">
            <a:avLst/>
          </a:prstGeom>
          <a:solidFill>
            <a:schemeClr val="bg1"/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 rot="60000">
            <a:off x="4464768" y="603920"/>
            <a:ext cx="3788941" cy="5722296"/>
          </a:xfrm>
          <a:prstGeom prst="rect">
            <a:avLst/>
          </a:prstGeom>
          <a:blipFill dpi="0" rotWithShape="1">
            <a:blip r:embed="rId2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1435684">
            <a:off x="2371106" y="293953"/>
            <a:ext cx="567831" cy="567830"/>
          </a:xfrm>
          <a:prstGeom prst="rect">
            <a:avLst/>
          </a:prstGeom>
          <a:noFill/>
        </p:spPr>
      </p:pic>
      <p:pic>
        <p:nvPicPr>
          <p:cNvPr id="15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4096196">
            <a:off x="6279647" y="333163"/>
            <a:ext cx="566928" cy="566928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-60000">
            <a:off x="1106424" y="2020824"/>
            <a:ext cx="3063240" cy="1499616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60000">
            <a:off x="4898615" y="1207272"/>
            <a:ext cx="2913863" cy="4539412"/>
          </a:xfrm>
          <a:ln w="101600" cap="rnd">
            <a:solidFill>
              <a:srgbClr val="FFFFFF"/>
            </a:solidFill>
          </a:ln>
          <a:effectLst>
            <a:outerShdw blurRad="889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 rot="-60000">
            <a:off x="1152144" y="3621024"/>
            <a:ext cx="3044952" cy="210312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 rot="60000">
            <a:off x="6345936" y="5888737"/>
            <a:ext cx="1213821" cy="365125"/>
          </a:xfrm>
        </p:spPr>
        <p:txBody>
          <a:bodyPr/>
          <a:lstStyle/>
          <a:p>
            <a:fld id="{222F9302-452D-465F-8213-86D466D48167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 rot="-60000">
            <a:off x="914569" y="5831037"/>
            <a:ext cx="331904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 rot="60000">
            <a:off x="7562089" y="5900026"/>
            <a:ext cx="554023" cy="365125"/>
          </a:xfrm>
        </p:spPr>
        <p:txBody>
          <a:bodyPr/>
          <a:lstStyle/>
          <a:p>
            <a:fld id="{B251FB17-2A96-4297-A919-84C9CAA01A4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F9302-452D-465F-8213-86D466D48167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1FB17-2A96-4297-A919-84C9CAA01A4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1" y="925690"/>
            <a:ext cx="1430867" cy="476391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8221" y="1106312"/>
            <a:ext cx="5178779" cy="440266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F9302-452D-465F-8213-86D466D48167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1FB17-2A96-4297-A919-84C9CAA01A4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15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71628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1765"/>
                  </a:srgbClr>
                </a:gs>
                <a:gs pos="60000">
                  <a:srgbClr val="FEFEFE">
                    <a:alpha val="0"/>
                  </a:srgb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/>
            <p:cNvSpPr/>
            <p:nvPr/>
          </p:nvSpPr>
          <p:spPr>
            <a:xfrm>
              <a:off x="1143000" y="0"/>
              <a:ext cx="80010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6000"/>
                  </a:srgbClr>
                </a:gs>
                <a:gs pos="61000">
                  <a:srgbClr val="FEFEFE">
                    <a:alpha val="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Freeform 9"/>
          <p:cNvSpPr/>
          <p:nvPr/>
        </p:nvSpPr>
        <p:spPr>
          <a:xfrm rot="10800000">
            <a:off x="628650" y="6069330"/>
            <a:ext cx="7920991" cy="537210"/>
          </a:xfrm>
          <a:custGeom>
            <a:avLst/>
            <a:gdLst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7785734 w 7955280"/>
              <a:gd name="connsiteY2" fmla="*/ 0 h 495300"/>
              <a:gd name="connsiteX3" fmla="*/ 7955280 w 7955280"/>
              <a:gd name="connsiteY3" fmla="*/ 495300 h 495300"/>
              <a:gd name="connsiteX4" fmla="*/ 0 w 7955280"/>
              <a:gd name="connsiteY4" fmla="*/ 495300 h 495300"/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3966210 w 7955280"/>
              <a:gd name="connsiteY2" fmla="*/ 95250 h 495300"/>
              <a:gd name="connsiteX3" fmla="*/ 7785734 w 7955280"/>
              <a:gd name="connsiteY3" fmla="*/ 0 h 495300"/>
              <a:gd name="connsiteX4" fmla="*/ 7955280 w 7955280"/>
              <a:gd name="connsiteY4" fmla="*/ 495300 h 495300"/>
              <a:gd name="connsiteX5" fmla="*/ 0 w 7955280"/>
              <a:gd name="connsiteY5" fmla="*/ 495300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955280" h="495300">
                <a:moveTo>
                  <a:pt x="0" y="495300"/>
                </a:moveTo>
                <a:lnTo>
                  <a:pt x="169546" y="0"/>
                </a:lnTo>
                <a:lnTo>
                  <a:pt x="3966210" y="95250"/>
                </a:lnTo>
                <a:lnTo>
                  <a:pt x="7785734" y="0"/>
                </a:lnTo>
                <a:lnTo>
                  <a:pt x="7955280" y="495300"/>
                </a:lnTo>
                <a:lnTo>
                  <a:pt x="0" y="495300"/>
                </a:lnTo>
                <a:close/>
              </a:path>
            </a:pathLst>
          </a:custGeom>
          <a:gradFill flip="none" rotWithShape="1">
            <a:gsLst>
              <a:gs pos="30000">
                <a:srgbClr val="010101">
                  <a:alpha val="34000"/>
                </a:srgbClr>
              </a:gs>
              <a:gs pos="100000">
                <a:srgbClr val="010101">
                  <a:alpha val="26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31520" y="575310"/>
            <a:ext cx="7696200" cy="5715000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731520" y="576072"/>
            <a:ext cx="7696200" cy="5715000"/>
          </a:xfrm>
          <a:prstGeom prst="rect">
            <a:avLst/>
          </a:prstGeom>
          <a:blipFill dpi="0" rotWithShape="1">
            <a:blip r:embed="rId13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 rot="1435684">
            <a:off x="543741" y="273091"/>
            <a:ext cx="567831" cy="567830"/>
          </a:xfrm>
          <a:prstGeom prst="rect">
            <a:avLst/>
          </a:prstGeom>
          <a:noFill/>
        </p:spPr>
      </p:pic>
      <p:pic>
        <p:nvPicPr>
          <p:cNvPr id="14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 rot="4096196">
            <a:off x="8115079" y="298163"/>
            <a:ext cx="566928" cy="566928"/>
          </a:xfrm>
          <a:prstGeom prst="rect">
            <a:avLst/>
          </a:prstGeom>
          <a:noFill/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5023" y="817582"/>
            <a:ext cx="6965245" cy="12024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63040" y="2119257"/>
            <a:ext cx="6196405" cy="360381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54588" y="5809152"/>
            <a:ext cx="12138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  <a:latin typeface="Rage Italic" pitchFamily="66" charset="0"/>
              </a:defRPr>
            </a:lvl1pPr>
          </a:lstStyle>
          <a:p>
            <a:fld id="{222F9302-452D-465F-8213-86D466D48167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4401" y="5809152"/>
            <a:ext cx="55401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2"/>
                </a:solidFill>
                <a:latin typeface="Rage Italic" pitchFamily="66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70202" y="5809152"/>
            <a:ext cx="55402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tx2"/>
                </a:solidFill>
                <a:latin typeface="Rage Italic" pitchFamily="66" charset="0"/>
              </a:defRPr>
            </a:lvl1pPr>
          </a:lstStyle>
          <a:p>
            <a:fld id="{B251FB17-2A96-4297-A919-84C9CAA01A42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7432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64592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01168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838201"/>
            <a:ext cx="7772400" cy="2362200"/>
          </a:xfrm>
        </p:spPr>
        <p:txBody>
          <a:bodyPr/>
          <a:lstStyle/>
          <a:p>
            <a:r>
              <a:rPr lang="en-US" dirty="0" smtClean="0"/>
              <a:t>Machine Learning Model Deployment System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4038600"/>
            <a:ext cx="7315200" cy="2272562"/>
          </a:xfrm>
        </p:spPr>
        <p:txBody>
          <a:bodyPr>
            <a:normAutofit/>
          </a:bodyPr>
          <a:lstStyle/>
          <a:p>
            <a:r>
              <a:rPr lang="en-US" b="1" dirty="0" smtClean="0">
                <a:solidFill>
                  <a:schemeClr val="tx1"/>
                </a:solidFill>
              </a:rPr>
              <a:t>Prepared By: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 err="1" smtClean="0">
                <a:solidFill>
                  <a:schemeClr val="tx1"/>
                </a:solidFill>
              </a:rPr>
              <a:t>Shivam</a:t>
            </a:r>
            <a:r>
              <a:rPr lang="en-US" dirty="0" smtClean="0">
                <a:solidFill>
                  <a:schemeClr val="tx1"/>
                </a:solidFill>
              </a:rPr>
              <a:t> Kumar</a:t>
            </a:r>
            <a:endParaRPr lang="en-US" dirty="0" smtClean="0">
              <a:solidFill>
                <a:schemeClr val="tx1"/>
              </a:solidFill>
            </a:endParaRPr>
          </a:p>
          <a:p>
            <a:r>
              <a:rPr lang="en-US" b="1" dirty="0" smtClean="0">
                <a:solidFill>
                  <a:schemeClr val="tx1"/>
                </a:solidFill>
              </a:rPr>
              <a:t>Organization:</a:t>
            </a:r>
            <a:r>
              <a:rPr lang="en-US" dirty="0" smtClean="0">
                <a:solidFill>
                  <a:schemeClr val="tx1"/>
                </a:solidFill>
              </a:rPr>
              <a:t> The Developer Arena</a:t>
            </a:r>
          </a:p>
          <a:p>
            <a:r>
              <a:rPr lang="en-US" b="1" dirty="0" smtClean="0">
                <a:solidFill>
                  <a:schemeClr val="tx1"/>
                </a:solidFill>
              </a:rPr>
              <a:t>Role:</a:t>
            </a:r>
            <a:r>
              <a:rPr lang="en-US" dirty="0" smtClean="0">
                <a:solidFill>
                  <a:schemeClr val="tx1"/>
                </a:solidFill>
              </a:rPr>
              <a:t> Data Science Intern</a:t>
            </a:r>
          </a:p>
          <a:p>
            <a:r>
              <a:rPr lang="en-US" b="1" dirty="0" smtClean="0">
                <a:solidFill>
                  <a:schemeClr val="tx1"/>
                </a:solidFill>
              </a:rPr>
              <a:t>Duration:</a:t>
            </a:r>
            <a:r>
              <a:rPr lang="en-US" dirty="0" smtClean="0">
                <a:solidFill>
                  <a:schemeClr val="tx1"/>
                </a:solidFill>
              </a:rPr>
              <a:t> February 2026 – May 2026</a:t>
            </a:r>
          </a:p>
          <a:p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00527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This capstone project demonstrates an end-to-end Machine Learning system</a:t>
            </a:r>
            <a:r>
              <a:rPr lang="en-US" dirty="0" smtClean="0"/>
              <a:t>.</a:t>
            </a:r>
          </a:p>
          <a:p>
            <a:r>
              <a:rPr lang="en-US" dirty="0" smtClean="0"/>
              <a:t> </a:t>
            </a:r>
            <a:r>
              <a:rPr lang="en-US" dirty="0"/>
              <a:t>It includes</a:t>
            </a:r>
            <a:r>
              <a:rPr lang="en-US" dirty="0" smtClean="0"/>
              <a:t>:</a:t>
            </a:r>
          </a:p>
          <a:p>
            <a:pPr marL="45720" indent="0">
              <a:buNone/>
            </a:pPr>
            <a:r>
              <a:rPr lang="en-US" dirty="0" smtClean="0"/>
              <a:t>              </a:t>
            </a:r>
            <a:r>
              <a:rPr lang="en-US" dirty="0"/>
              <a:t>Data collection </a:t>
            </a:r>
          </a:p>
          <a:p>
            <a:pPr marL="45720" indent="0">
              <a:buNone/>
            </a:pPr>
            <a:r>
              <a:rPr lang="en-US" dirty="0" smtClean="0"/>
              <a:t>              Data </a:t>
            </a:r>
            <a:r>
              <a:rPr lang="en-US" dirty="0"/>
              <a:t>preprocessing </a:t>
            </a:r>
          </a:p>
          <a:p>
            <a:pPr marL="45720" indent="0">
              <a:buNone/>
            </a:pPr>
            <a:r>
              <a:rPr lang="en-US" dirty="0" smtClean="0"/>
              <a:t>              Model </a:t>
            </a:r>
            <a:r>
              <a:rPr lang="en-US" dirty="0"/>
              <a:t>building </a:t>
            </a:r>
          </a:p>
          <a:p>
            <a:pPr marL="45720" indent="0">
              <a:buNone/>
            </a:pPr>
            <a:r>
              <a:rPr lang="en-US" dirty="0" smtClean="0"/>
              <a:t>              Model </a:t>
            </a:r>
            <a:r>
              <a:rPr lang="en-US" dirty="0"/>
              <a:t>evaluation </a:t>
            </a:r>
          </a:p>
          <a:p>
            <a:pPr marL="45720" indent="0">
              <a:buNone/>
            </a:pPr>
            <a:r>
              <a:rPr lang="en-US" dirty="0" smtClean="0"/>
              <a:t>              Deployment </a:t>
            </a:r>
            <a:r>
              <a:rPr lang="en-US" dirty="0"/>
              <a:t>using Flask API </a:t>
            </a:r>
          </a:p>
          <a:p>
            <a:r>
              <a:rPr lang="en-US" dirty="0"/>
              <a:t>The system provides real-time predictions based on user input.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52515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Machine Learning models are usually limited to notebooks and research environments</a:t>
            </a:r>
            <a:r>
              <a:rPr lang="en-US" dirty="0" smtClean="0"/>
              <a:t>.</a:t>
            </a:r>
          </a:p>
          <a:p>
            <a:r>
              <a:rPr lang="en-US" dirty="0" smtClean="0"/>
              <a:t> </a:t>
            </a:r>
            <a:r>
              <a:rPr lang="en-US" dirty="0"/>
              <a:t>They are not directly usable in real-world applications</a:t>
            </a:r>
            <a:r>
              <a:rPr lang="en-US" dirty="0" smtClean="0"/>
              <a:t>.</a:t>
            </a:r>
          </a:p>
          <a:p>
            <a:r>
              <a:rPr lang="en-US" dirty="0" smtClean="0"/>
              <a:t> </a:t>
            </a:r>
            <a:r>
              <a:rPr lang="en-US" dirty="0"/>
              <a:t>There is a need for a system that can</a:t>
            </a:r>
            <a:r>
              <a:rPr lang="en-US" dirty="0" smtClean="0"/>
              <a:t>:</a:t>
            </a:r>
          </a:p>
          <a:p>
            <a:pPr marL="45720" indent="0">
              <a:buNone/>
            </a:pPr>
            <a:r>
              <a:rPr lang="en-US" dirty="0"/>
              <a:t> </a:t>
            </a:r>
            <a:r>
              <a:rPr lang="en-US" dirty="0" smtClean="0"/>
              <a:t>                      </a:t>
            </a:r>
            <a:r>
              <a:rPr lang="en-US" dirty="0"/>
              <a:t>Take live input </a:t>
            </a:r>
          </a:p>
          <a:p>
            <a:pPr marL="45720" indent="0">
              <a:buNone/>
            </a:pPr>
            <a:r>
              <a:rPr lang="en-US" dirty="0" smtClean="0"/>
              <a:t>                       Process </a:t>
            </a:r>
            <a:r>
              <a:rPr lang="en-US" dirty="0"/>
              <a:t>it using ML model </a:t>
            </a:r>
          </a:p>
          <a:p>
            <a:pPr marL="45720" indent="0">
              <a:buNone/>
            </a:pPr>
            <a:r>
              <a:rPr lang="en-US" dirty="0" smtClean="0"/>
              <a:t>                       Provide </a:t>
            </a:r>
            <a:r>
              <a:rPr lang="en-US" dirty="0"/>
              <a:t>instant predictions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71091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Build a machine learning model using dataset </a:t>
            </a:r>
          </a:p>
          <a:p>
            <a:r>
              <a:rPr lang="en-US" dirty="0"/>
              <a:t>Improve prediction accuracy using preprocessing </a:t>
            </a:r>
          </a:p>
          <a:p>
            <a:r>
              <a:rPr lang="en-US" dirty="0"/>
              <a:t>Save trained model as </a:t>
            </a:r>
            <a:r>
              <a:rPr lang="en-US" dirty="0" err="1"/>
              <a:t>model.pkl</a:t>
            </a:r>
            <a:r>
              <a:rPr lang="en-US" dirty="0"/>
              <a:t> </a:t>
            </a:r>
          </a:p>
          <a:p>
            <a:r>
              <a:rPr lang="en-US" dirty="0"/>
              <a:t>Deploy model using Flask API </a:t>
            </a:r>
          </a:p>
          <a:p>
            <a:r>
              <a:rPr lang="en-US" dirty="0"/>
              <a:t>Enable real-time prediction system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109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SCOPE OF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Real-time prediction system </a:t>
            </a:r>
          </a:p>
          <a:p>
            <a:r>
              <a:rPr lang="en-US" dirty="0"/>
              <a:t>Can be integrated into web or mobile applications </a:t>
            </a:r>
          </a:p>
          <a:p>
            <a:r>
              <a:rPr lang="en-US" dirty="0"/>
              <a:t>Useful in industries like: </a:t>
            </a:r>
          </a:p>
          <a:p>
            <a:pPr lvl="1"/>
            <a:r>
              <a:rPr lang="en-US" dirty="0"/>
              <a:t>Healthcare </a:t>
            </a:r>
          </a:p>
          <a:p>
            <a:pPr lvl="1"/>
            <a:r>
              <a:rPr lang="en-US" dirty="0"/>
              <a:t>Finance </a:t>
            </a:r>
          </a:p>
          <a:p>
            <a:pPr lvl="1"/>
            <a:r>
              <a:rPr lang="en-US" dirty="0"/>
              <a:t>Education </a:t>
            </a:r>
          </a:p>
          <a:p>
            <a:pPr lvl="1"/>
            <a:r>
              <a:rPr lang="en-US" dirty="0"/>
              <a:t>Business analytics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72971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Python </a:t>
            </a:r>
            <a:endParaRPr lang="en-US" dirty="0" smtClean="0"/>
          </a:p>
          <a:p>
            <a:r>
              <a:rPr lang="en-US" dirty="0" smtClean="0"/>
              <a:t> </a:t>
            </a:r>
            <a:r>
              <a:rPr lang="en-US" dirty="0" err="1"/>
              <a:t>Jupyter</a:t>
            </a:r>
            <a:r>
              <a:rPr lang="en-US" dirty="0"/>
              <a:t> Notebook </a:t>
            </a:r>
            <a:endParaRPr lang="en-US" dirty="0" smtClean="0"/>
          </a:p>
          <a:p>
            <a:r>
              <a:rPr lang="en-US" dirty="0" smtClean="0"/>
              <a:t> </a:t>
            </a:r>
            <a:r>
              <a:rPr lang="en-US" dirty="0" err="1"/>
              <a:t>Scikit</a:t>
            </a:r>
            <a:r>
              <a:rPr lang="en-US" dirty="0"/>
              <a:t>-learn </a:t>
            </a:r>
            <a:endParaRPr lang="en-US" dirty="0" smtClean="0"/>
          </a:p>
          <a:p>
            <a:r>
              <a:rPr lang="en-US" dirty="0" smtClean="0"/>
              <a:t> </a:t>
            </a:r>
            <a:r>
              <a:rPr lang="en-US" dirty="0"/>
              <a:t>Flask </a:t>
            </a:r>
            <a:endParaRPr lang="en-US" dirty="0" smtClean="0"/>
          </a:p>
          <a:p>
            <a:r>
              <a:rPr lang="en-US" dirty="0" smtClean="0"/>
              <a:t> </a:t>
            </a:r>
            <a:r>
              <a:rPr lang="en-US" dirty="0" err="1"/>
              <a:t>NumPy</a:t>
            </a:r>
            <a:r>
              <a:rPr lang="en-US" dirty="0"/>
              <a:t> </a:t>
            </a:r>
            <a:r>
              <a:rPr lang="en-US" dirty="0" smtClean="0"/>
              <a:t>&amp; Pandas</a:t>
            </a:r>
          </a:p>
          <a:p>
            <a:r>
              <a:rPr lang="en-US" dirty="0" smtClean="0"/>
              <a:t> </a:t>
            </a:r>
            <a:r>
              <a:rPr lang="en-US" dirty="0"/>
              <a:t>Pickle </a:t>
            </a:r>
          </a:p>
        </p:txBody>
      </p:sp>
    </p:spTree>
    <p:extLst>
      <p:ext uri="{BB962C8B-B14F-4D97-AF65-F5344CB8AC3E}">
        <p14:creationId xmlns:p14="http://schemas.microsoft.com/office/powerpoint/2010/main" val="19324932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45720" indent="0">
              <a:buNone/>
            </a:pPr>
            <a:r>
              <a:rPr lang="en-US" dirty="0" smtClean="0"/>
              <a:t>   User </a:t>
            </a:r>
            <a:r>
              <a:rPr lang="en-US" dirty="0"/>
              <a:t>Input</a:t>
            </a:r>
          </a:p>
          <a:p>
            <a:pPr marL="45720" indent="0">
              <a:buNone/>
            </a:pPr>
            <a:r>
              <a:rPr lang="en-US" dirty="0"/>
              <a:t>     |</a:t>
            </a:r>
            <a:endParaRPr lang="en-US" dirty="0" smtClean="0"/>
          </a:p>
          <a:p>
            <a:pPr marL="45720" indent="0">
              <a:buNone/>
            </a:pPr>
            <a:r>
              <a:rPr lang="en-US" dirty="0"/>
              <a:t> </a:t>
            </a:r>
            <a:r>
              <a:rPr lang="en-US" dirty="0" smtClean="0"/>
              <a:t>  Frontend</a:t>
            </a:r>
          </a:p>
          <a:p>
            <a:pPr marL="45720" indent="0">
              <a:buNone/>
            </a:pPr>
            <a:r>
              <a:rPr lang="en-US" dirty="0"/>
              <a:t> </a:t>
            </a:r>
            <a:r>
              <a:rPr lang="en-US" dirty="0" smtClean="0"/>
              <a:t>    |</a:t>
            </a:r>
            <a:endParaRPr lang="en-US" dirty="0"/>
          </a:p>
          <a:p>
            <a:pPr marL="45720" indent="0">
              <a:buNone/>
            </a:pPr>
            <a:r>
              <a:rPr lang="en-US" dirty="0" smtClean="0"/>
              <a:t>  Flask </a:t>
            </a:r>
            <a:r>
              <a:rPr lang="en-US" dirty="0"/>
              <a:t>API (app.py)</a:t>
            </a:r>
          </a:p>
          <a:p>
            <a:pPr marL="45720" indent="0">
              <a:buNone/>
            </a:pPr>
            <a:r>
              <a:rPr lang="en-US" dirty="0" smtClean="0"/>
              <a:t>     |</a:t>
            </a:r>
            <a:endParaRPr lang="en-US" dirty="0"/>
          </a:p>
          <a:p>
            <a:pPr marL="45720" indent="0">
              <a:buNone/>
            </a:pPr>
            <a:r>
              <a:rPr lang="en-US" dirty="0" smtClean="0"/>
              <a:t>  Load </a:t>
            </a:r>
            <a:r>
              <a:rPr lang="en-US" dirty="0" err="1"/>
              <a:t>model.pkl</a:t>
            </a:r>
            <a:endParaRPr lang="en-US" dirty="0"/>
          </a:p>
          <a:p>
            <a:pPr marL="45720" indent="0">
              <a:buNone/>
            </a:pPr>
            <a:r>
              <a:rPr lang="en-US" dirty="0"/>
              <a:t>  </a:t>
            </a:r>
            <a:r>
              <a:rPr lang="en-US" dirty="0" smtClean="0"/>
              <a:t>   |</a:t>
            </a:r>
          </a:p>
          <a:p>
            <a:pPr marL="45720" indent="0">
              <a:buNone/>
            </a:pPr>
            <a:r>
              <a:rPr lang="en-US" dirty="0"/>
              <a:t> </a:t>
            </a:r>
            <a:r>
              <a:rPr lang="en-US" dirty="0" smtClean="0"/>
              <a:t> Machine </a:t>
            </a:r>
            <a:r>
              <a:rPr lang="en-US" dirty="0"/>
              <a:t>Learning Model</a:t>
            </a:r>
          </a:p>
          <a:p>
            <a:pPr marL="45720" indent="0">
              <a:buNone/>
            </a:pPr>
            <a:r>
              <a:rPr lang="en-US" dirty="0" smtClean="0"/>
              <a:t>     |</a:t>
            </a:r>
            <a:endParaRPr lang="en-US" dirty="0"/>
          </a:p>
          <a:p>
            <a:pPr marL="45720" indent="0">
              <a:buNone/>
            </a:pPr>
            <a:r>
              <a:rPr lang="en-US" dirty="0" smtClean="0"/>
              <a:t>  Prediction </a:t>
            </a:r>
            <a:r>
              <a:rPr lang="en-US" dirty="0"/>
              <a:t>Output</a:t>
            </a:r>
          </a:p>
          <a:p>
            <a:pPr marL="45720" indent="0">
              <a:buNone/>
            </a:pPr>
            <a:r>
              <a:rPr lang="en-US" dirty="0" smtClean="0"/>
              <a:t>     |</a:t>
            </a:r>
            <a:endParaRPr lang="en-US" dirty="0"/>
          </a:p>
          <a:p>
            <a:pPr marL="45720" indent="0">
              <a:buNone/>
            </a:pPr>
            <a:r>
              <a:rPr lang="en-US" dirty="0" smtClean="0"/>
              <a:t>  Response </a:t>
            </a:r>
            <a:r>
              <a:rPr lang="en-US" dirty="0"/>
              <a:t>sent to User</a:t>
            </a:r>
          </a:p>
        </p:txBody>
      </p:sp>
    </p:spTree>
    <p:extLst>
      <p:ext uri="{BB962C8B-B14F-4D97-AF65-F5344CB8AC3E}">
        <p14:creationId xmlns:p14="http://schemas.microsoft.com/office/powerpoint/2010/main" val="2457332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Dataset used for training ML model</a:t>
            </a:r>
            <a:r>
              <a:rPr lang="en-US" dirty="0" smtClean="0"/>
              <a:t>.</a:t>
            </a:r>
          </a:p>
          <a:p>
            <a:r>
              <a:rPr lang="en-US" dirty="0" smtClean="0"/>
              <a:t> </a:t>
            </a:r>
            <a:r>
              <a:rPr lang="en-US" dirty="0"/>
              <a:t>Contains multiple input features and target labels</a:t>
            </a:r>
            <a:r>
              <a:rPr lang="en-US" dirty="0" smtClean="0"/>
              <a:t>.</a:t>
            </a:r>
          </a:p>
          <a:p>
            <a:r>
              <a:rPr lang="en-US" dirty="0"/>
              <a:t>Steps performed: </a:t>
            </a:r>
          </a:p>
          <a:p>
            <a:pPr lvl="1"/>
            <a:r>
              <a:rPr lang="en-US" dirty="0"/>
              <a:t>Data cleaning </a:t>
            </a:r>
          </a:p>
          <a:p>
            <a:pPr lvl="1"/>
            <a:r>
              <a:rPr lang="en-US" dirty="0"/>
              <a:t>Handling missing values </a:t>
            </a:r>
          </a:p>
          <a:p>
            <a:pPr lvl="1"/>
            <a:r>
              <a:rPr lang="en-US" dirty="0"/>
              <a:t>Feature selection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18804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Removed null values </a:t>
            </a:r>
          </a:p>
          <a:p>
            <a:r>
              <a:rPr lang="en-US" dirty="0"/>
              <a:t>Encoded categorical data </a:t>
            </a:r>
          </a:p>
          <a:p>
            <a:r>
              <a:rPr lang="en-US" dirty="0"/>
              <a:t>Scaled numerical values </a:t>
            </a:r>
          </a:p>
          <a:p>
            <a:r>
              <a:rPr lang="en-US" dirty="0"/>
              <a:t>Split dataset into: </a:t>
            </a:r>
          </a:p>
          <a:p>
            <a:pPr lvl="1"/>
            <a:r>
              <a:rPr lang="en-US" dirty="0"/>
              <a:t>Training set (80%) </a:t>
            </a:r>
          </a:p>
          <a:p>
            <a:pPr lvl="1"/>
            <a:r>
              <a:rPr lang="en-US" dirty="0"/>
              <a:t>Testing set (20%)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04269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BUILDING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Machine Learning algorithm used: Random Forest / Logistic Regression (based on project) </a:t>
            </a:r>
          </a:p>
          <a:p>
            <a:r>
              <a:rPr lang="en-US" dirty="0"/>
              <a:t>Steps</a:t>
            </a:r>
            <a:r>
              <a:rPr lang="en-US" dirty="0" smtClean="0"/>
              <a:t>:</a:t>
            </a:r>
          </a:p>
          <a:p>
            <a:pPr marL="45720" indent="0">
              <a:buNone/>
            </a:pPr>
            <a:r>
              <a:rPr lang="en-US" dirty="0"/>
              <a:t> </a:t>
            </a:r>
            <a:r>
              <a:rPr lang="en-US" dirty="0" smtClean="0"/>
              <a:t>         </a:t>
            </a:r>
            <a:r>
              <a:rPr lang="en-US" dirty="0"/>
              <a:t>Data preprocessing </a:t>
            </a:r>
          </a:p>
          <a:p>
            <a:pPr marL="45720" indent="0">
              <a:buNone/>
            </a:pPr>
            <a:r>
              <a:rPr lang="en-US" dirty="0" smtClean="0"/>
              <a:t>          Model </a:t>
            </a:r>
            <a:r>
              <a:rPr lang="en-US" dirty="0"/>
              <a:t>training </a:t>
            </a:r>
          </a:p>
          <a:p>
            <a:pPr marL="45720" indent="0">
              <a:buNone/>
            </a:pPr>
            <a:r>
              <a:rPr lang="en-US" dirty="0" smtClean="0"/>
              <a:t>          Model </a:t>
            </a:r>
            <a:r>
              <a:rPr lang="en-US" dirty="0"/>
              <a:t>evaluation </a:t>
            </a:r>
          </a:p>
          <a:p>
            <a:r>
              <a:rPr lang="en-US" dirty="0"/>
              <a:t>Final trained model saved as </a:t>
            </a:r>
            <a:r>
              <a:rPr lang="en-US" dirty="0" err="1"/>
              <a:t>model.pkl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8869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Accuracy calculated using test data </a:t>
            </a:r>
          </a:p>
          <a:p>
            <a:r>
              <a:rPr lang="en-US" dirty="0"/>
              <a:t>Performance metrics: </a:t>
            </a:r>
          </a:p>
          <a:p>
            <a:pPr lvl="1"/>
            <a:r>
              <a:rPr lang="en-US" dirty="0"/>
              <a:t>Accuracy Score </a:t>
            </a:r>
          </a:p>
          <a:p>
            <a:pPr lvl="1"/>
            <a:r>
              <a:rPr lang="en-US" dirty="0"/>
              <a:t>Confusion Matrix </a:t>
            </a:r>
          </a:p>
          <a:p>
            <a:pPr lvl="1"/>
            <a:r>
              <a:rPr lang="en-US" dirty="0"/>
              <a:t>Precision &amp; Recall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47453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SAVING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After training, model is saved using Pickle: </a:t>
            </a:r>
          </a:p>
          <a:p>
            <a:pPr marL="45720" indent="0">
              <a:buNone/>
            </a:pPr>
            <a:r>
              <a:rPr lang="en-US" dirty="0"/>
              <a:t>import pickle</a:t>
            </a:r>
            <a:br>
              <a:rPr lang="en-US" dirty="0"/>
            </a:br>
            <a:r>
              <a:rPr lang="en-US" dirty="0" err="1"/>
              <a:t>pickle.dump</a:t>
            </a:r>
            <a:r>
              <a:rPr lang="en-US" dirty="0"/>
              <a:t>(model, open("</a:t>
            </a:r>
            <a:r>
              <a:rPr lang="en-US" dirty="0" err="1"/>
              <a:t>model.pkl</a:t>
            </a:r>
            <a:r>
              <a:rPr lang="en-US" dirty="0"/>
              <a:t>", "</a:t>
            </a:r>
            <a:r>
              <a:rPr lang="en-US" dirty="0" err="1"/>
              <a:t>wb</a:t>
            </a:r>
            <a:r>
              <a:rPr lang="en-US" dirty="0"/>
              <a:t>"))</a:t>
            </a:r>
          </a:p>
          <a:p>
            <a:r>
              <a:rPr lang="en-US" dirty="0"/>
              <a:t>This file is used for deployment.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93312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DEPLOYMENT </a:t>
            </a:r>
            <a:r>
              <a:rPr lang="en-US" dirty="0" smtClean="0"/>
              <a:t>OVERVIEW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Flask is used to create a web API. </a:t>
            </a:r>
          </a:p>
          <a:p>
            <a:r>
              <a:rPr lang="en-US" dirty="0"/>
              <a:t>Model is loaded inside app.py. </a:t>
            </a:r>
          </a:p>
          <a:p>
            <a:r>
              <a:rPr lang="en-US" b="1" dirty="0"/>
              <a:t>API Endpoint:</a:t>
            </a:r>
            <a:endParaRPr lang="en-US" dirty="0"/>
          </a:p>
          <a:p>
            <a:pPr marL="45720" indent="0">
              <a:buNone/>
            </a:pPr>
            <a:r>
              <a:rPr lang="en-US" dirty="0" smtClean="0"/>
              <a:t>          /</a:t>
            </a:r>
            <a:r>
              <a:rPr lang="en-US" dirty="0"/>
              <a:t>predict</a:t>
            </a:r>
          </a:p>
          <a:p>
            <a:r>
              <a:rPr lang="en-US" b="1" dirty="0"/>
              <a:t>Method:</a:t>
            </a:r>
            <a:r>
              <a:rPr lang="en-US" dirty="0"/>
              <a:t> POST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89650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WORKING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User Input</a:t>
            </a:r>
          </a:p>
          <a:p>
            <a:pPr marL="45720" indent="0">
              <a:buNone/>
            </a:pPr>
            <a:r>
              <a:rPr lang="en-US" dirty="0"/>
              <a:t>   ↓</a:t>
            </a:r>
          </a:p>
          <a:p>
            <a:r>
              <a:rPr lang="en-US" dirty="0"/>
              <a:t>Flask API receives request</a:t>
            </a:r>
          </a:p>
          <a:p>
            <a:pPr marL="45720" indent="0">
              <a:buNone/>
            </a:pPr>
            <a:r>
              <a:rPr lang="en-US" dirty="0"/>
              <a:t>   ↓</a:t>
            </a:r>
          </a:p>
          <a:p>
            <a:r>
              <a:rPr lang="en-US" dirty="0" err="1"/>
              <a:t>model.pkl</a:t>
            </a:r>
            <a:r>
              <a:rPr lang="en-US" dirty="0"/>
              <a:t> loads trained model</a:t>
            </a:r>
          </a:p>
          <a:p>
            <a:pPr marL="45720" indent="0">
              <a:buNone/>
            </a:pPr>
            <a:r>
              <a:rPr lang="en-US" dirty="0"/>
              <a:t>   ↓</a:t>
            </a:r>
          </a:p>
          <a:p>
            <a:r>
              <a:rPr lang="en-US" dirty="0"/>
              <a:t>Model processes input</a:t>
            </a:r>
          </a:p>
          <a:p>
            <a:pPr marL="45720" indent="0">
              <a:buNone/>
            </a:pPr>
            <a:r>
              <a:rPr lang="en-US" dirty="0"/>
              <a:t>   ↓</a:t>
            </a:r>
          </a:p>
          <a:p>
            <a:r>
              <a:rPr lang="en-US" dirty="0"/>
              <a:t>Prediction generated</a:t>
            </a:r>
          </a:p>
          <a:p>
            <a:pPr marL="45720" indent="0">
              <a:buNone/>
            </a:pPr>
            <a:r>
              <a:rPr lang="en-US" dirty="0"/>
              <a:t>   ↓</a:t>
            </a:r>
          </a:p>
          <a:p>
            <a:r>
              <a:rPr lang="en-US" dirty="0"/>
              <a:t>Result returned as JSON</a:t>
            </a:r>
          </a:p>
        </p:txBody>
      </p:sp>
    </p:spTree>
    <p:extLst>
      <p:ext uri="{BB962C8B-B14F-4D97-AF65-F5344CB8AC3E}">
        <p14:creationId xmlns:p14="http://schemas.microsoft.com/office/powerpoint/2010/main" val="5581998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INPUT/OUTPUT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" indent="0">
              <a:buNone/>
            </a:pPr>
            <a:r>
              <a:rPr lang="en-US" dirty="0"/>
              <a:t>{</a:t>
            </a:r>
          </a:p>
          <a:p>
            <a:pPr marL="45720" indent="0">
              <a:buNone/>
            </a:pPr>
            <a:r>
              <a:rPr lang="en-US" dirty="0"/>
              <a:t>  "input": [1.2, 3.4, 5.6]</a:t>
            </a:r>
          </a:p>
          <a:p>
            <a:pPr marL="45720" indent="0">
              <a:buNone/>
            </a:pPr>
            <a:r>
              <a:rPr lang="en-US" dirty="0" smtClean="0"/>
              <a:t>}</a:t>
            </a:r>
          </a:p>
          <a:p>
            <a:pPr marL="45720" indent="0">
              <a:buNone/>
            </a:pPr>
            <a:endParaRPr lang="en-US" dirty="0"/>
          </a:p>
          <a:p>
            <a:pPr marL="45720" indent="0">
              <a:buNone/>
            </a:pPr>
            <a:r>
              <a:rPr lang="en-US" dirty="0"/>
              <a:t>{</a:t>
            </a:r>
          </a:p>
          <a:p>
            <a:pPr marL="45720" indent="0">
              <a:buNone/>
            </a:pPr>
            <a:r>
              <a:rPr lang="en-US" dirty="0"/>
              <a:t>  "prediction": "Positive Class"</a:t>
            </a:r>
          </a:p>
          <a:p>
            <a:pPr marL="45720" indent="0">
              <a:buNone/>
            </a:pPr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2890245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 / 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Model successfully predicts outcomes in real-time </a:t>
            </a:r>
          </a:p>
          <a:p>
            <a:r>
              <a:rPr lang="en-US" dirty="0"/>
              <a:t>API tested using Postman and browser </a:t>
            </a:r>
          </a:p>
          <a:p>
            <a:r>
              <a:rPr lang="en-US" dirty="0"/>
              <a:t>End-to-end ML pipeline implemented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27437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Real-time prediction system </a:t>
            </a:r>
          </a:p>
          <a:p>
            <a:r>
              <a:rPr lang="en-US" dirty="0"/>
              <a:t>Easy to use API </a:t>
            </a:r>
          </a:p>
          <a:p>
            <a:r>
              <a:rPr lang="en-US" dirty="0"/>
              <a:t>Scalable architecture </a:t>
            </a:r>
          </a:p>
          <a:p>
            <a:r>
              <a:rPr lang="en-US" dirty="0"/>
              <a:t>Can be integrated with web/mobile apps </a:t>
            </a:r>
          </a:p>
          <a:p>
            <a:r>
              <a:rPr lang="en-US" dirty="0"/>
              <a:t>End-to-end ML pipeline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10183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Requires trained dataset </a:t>
            </a:r>
          </a:p>
          <a:p>
            <a:r>
              <a:rPr lang="en-US" dirty="0"/>
              <a:t>Model accuracy depends on data quality </a:t>
            </a:r>
          </a:p>
          <a:p>
            <a:r>
              <a:rPr lang="en-US" dirty="0"/>
              <a:t>Basic Flask deployment (not cloud optimized yet)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33127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Deploy on cloud platforms (AWS / Render / Azure) </a:t>
            </a:r>
          </a:p>
          <a:p>
            <a:r>
              <a:rPr lang="en-US" dirty="0"/>
              <a:t>Add frontend UI (React / HTML) </a:t>
            </a:r>
          </a:p>
          <a:p>
            <a:r>
              <a:rPr lang="en-US" dirty="0"/>
              <a:t>Improve model accuracy </a:t>
            </a:r>
          </a:p>
          <a:p>
            <a:r>
              <a:rPr lang="en-US" dirty="0"/>
              <a:t>Add database integration </a:t>
            </a:r>
          </a:p>
          <a:p>
            <a:r>
              <a:rPr lang="en-US" dirty="0"/>
              <a:t>Convert into mobile app API backend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06529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371600"/>
            <a:ext cx="7315200" cy="1154097"/>
          </a:xfrm>
        </p:spPr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Successfully built and deployed a Machine Learning model. </a:t>
            </a:r>
          </a:p>
          <a:p>
            <a:r>
              <a:rPr lang="en-US" dirty="0"/>
              <a:t>Created real-time prediction system using Flask. </a:t>
            </a:r>
          </a:p>
          <a:p>
            <a:r>
              <a:rPr lang="en-US" dirty="0"/>
              <a:t>Learned end-to-end workflow of Data Science project. </a:t>
            </a:r>
          </a:p>
          <a:p>
            <a:r>
              <a:rPr lang="en-US" dirty="0"/>
              <a:t>Gained practical experience in ML deployment.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42819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914401"/>
            <a:ext cx="8382000" cy="2895599"/>
          </a:xfrm>
        </p:spPr>
        <p:txBody>
          <a:bodyPr>
            <a:noAutofit/>
          </a:bodyPr>
          <a:lstStyle/>
          <a:p>
            <a:r>
              <a:rPr lang="en-US" sz="8800" dirty="0" smtClean="0"/>
              <a:t>  THANK </a:t>
            </a:r>
            <a:r>
              <a:rPr lang="en-US" sz="8800" dirty="0"/>
              <a:t>YOU</a:t>
            </a:r>
          </a:p>
        </p:txBody>
      </p:sp>
    </p:spTree>
    <p:extLst>
      <p:ext uri="{BB962C8B-B14F-4D97-AF65-F5344CB8AC3E}">
        <p14:creationId xmlns:p14="http://schemas.microsoft.com/office/powerpoint/2010/main" val="7058065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ushpin">
  <a:themeElements>
    <a:clrScheme name="Pushpin">
      <a:dk1>
        <a:sysClr val="windowText" lastClr="000000"/>
      </a:dk1>
      <a:lt1>
        <a:sysClr val="window" lastClr="FFFFFF"/>
      </a:lt1>
      <a:dk2>
        <a:srgbClr val="465E9C"/>
      </a:dk2>
      <a:lt2>
        <a:srgbClr val="CCDDEA"/>
      </a:lt2>
      <a:accent1>
        <a:srgbClr val="FDA023"/>
      </a:accent1>
      <a:accent2>
        <a:srgbClr val="AA2B1E"/>
      </a:accent2>
      <a:accent3>
        <a:srgbClr val="71685C"/>
      </a:accent3>
      <a:accent4>
        <a:srgbClr val="64A73B"/>
      </a:accent4>
      <a:accent5>
        <a:srgbClr val="EB5605"/>
      </a:accent5>
      <a:accent6>
        <a:srgbClr val="B9CA1A"/>
      </a:accent6>
      <a:hlink>
        <a:srgbClr val="D83E2C"/>
      </a:hlink>
      <a:folHlink>
        <a:srgbClr val="ED7D27"/>
      </a:folHlink>
    </a:clrScheme>
    <a:fontScheme name="Pushpin">
      <a:majorFont>
        <a:latin typeface="Constantia"/>
        <a:ea typeface=""/>
        <a:cs typeface=""/>
        <a:font script="Jpan" typeface="HGS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Grek" typeface="Arial"/>
        <a:font script="Cyrl" typeface="Arial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ushpi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180000"/>
                <a:lumMod val="100000"/>
              </a:schemeClr>
            </a:gs>
            <a:gs pos="40000">
              <a:schemeClr val="phClr">
                <a:tint val="60000"/>
                <a:satMod val="130000"/>
                <a:lumMod val="100000"/>
              </a:schemeClr>
            </a:gs>
            <a:gs pos="100000">
              <a:schemeClr val="phClr">
                <a:tint val="96000"/>
                <a:lumMod val="108000"/>
              </a:schemeClr>
            </a:gs>
          </a:gsLst>
          <a:lin ang="5400000" scaled="0"/>
        </a:gradFill>
        <a:gradFill rotWithShape="1">
          <a:gsLst>
            <a:gs pos="0">
              <a:schemeClr val="phClr"/>
            </a:gs>
            <a:gs pos="100000">
              <a:schemeClr val="phClr">
                <a:shade val="76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80000"/>
              <a:lumMod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38100" dir="4800000" sx="98000" sy="98000" rotWithShape="0">
              <a:srgbClr val="000000">
                <a:alpha val="32000"/>
              </a:srgbClr>
            </a:outerShdw>
          </a:effectLst>
        </a:effectStyle>
        <a:effectStyle>
          <a:effectLst>
            <a:outerShdw blurRad="38100" dist="38100" dir="4800000" sx="96000" sy="96000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3240000"/>
            </a:lightRig>
          </a:scene3d>
          <a:sp3d>
            <a:bevelT w="28575" h="28575"/>
          </a:sp3d>
        </a:effectStyle>
      </a:effectStyleLst>
      <a:bgFillStyleLst>
        <a:solidFill>
          <a:schemeClr val="phClr">
            <a:tint val="93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satMod val="140000"/>
                <a:lumMod val="50000"/>
              </a:schemeClr>
              <a:schemeClr val="phClr">
                <a:tint val="95000"/>
                <a:satMod val="180000"/>
                <a:lumMod val="160000"/>
              </a:schemeClr>
            </a:duotone>
          </a:blip>
          <a:stretch/>
        </a:blipFill>
        <a:blipFill rotWithShape="1">
          <a:blip xmlns:r="http://schemas.openxmlformats.org/officeDocument/2006/relationships" r:embed="rId2">
            <a:duotone>
              <a:schemeClr val="phClr">
                <a:tint val="98000"/>
                <a:shade val="90000"/>
                <a:satMod val="120000"/>
                <a:lumMod val="54000"/>
              </a:schemeClr>
              <a:schemeClr val="phClr">
                <a:tint val="80000"/>
                <a:satMod val="160000"/>
                <a:lumMod val="140000"/>
              </a:schemeClr>
            </a:duotone>
          </a:blip>
          <a:stretch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Pushpin</Template>
  <TotalTime>39</TotalTime>
  <Words>549</Words>
  <Application>Microsoft Office PowerPoint</Application>
  <PresentationFormat>On-screen Show (4:3)</PresentationFormat>
  <Paragraphs>139</Paragraphs>
  <Slides>21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Pushpin</vt:lpstr>
      <vt:lpstr>Machine Learning Model Deployment System</vt:lpstr>
      <vt:lpstr>INTRODUCTION</vt:lpstr>
      <vt:lpstr>PROBLEM STATEMENT</vt:lpstr>
      <vt:lpstr>OBJECTIVES</vt:lpstr>
      <vt:lpstr>SCOPE OF PROJECT</vt:lpstr>
      <vt:lpstr>TECHNOLOGIES USED</vt:lpstr>
      <vt:lpstr>SYSTEM ARCHITECTURE</vt:lpstr>
      <vt:lpstr>DATASET DESCRIPTION</vt:lpstr>
      <vt:lpstr>DATA PREPROCESSING</vt:lpstr>
      <vt:lpstr>MODEL BUILDING</vt:lpstr>
      <vt:lpstr>MODEL EVALUATION</vt:lpstr>
      <vt:lpstr>MODEL SAVING</vt:lpstr>
      <vt:lpstr>DEPLOYMENT OVERVIEW</vt:lpstr>
      <vt:lpstr>SYSTEM WORKING</vt:lpstr>
      <vt:lpstr>SAMPLE INPUT/OUTPUT</vt:lpstr>
      <vt:lpstr>RESULT / OUTPUT</vt:lpstr>
      <vt:lpstr>ADVANTAGES</vt:lpstr>
      <vt:lpstr>LIMITATIONS</vt:lpstr>
      <vt:lpstr>FUTURE SCOPE</vt:lpstr>
      <vt:lpstr>CONCLUSION</vt:lpstr>
      <vt:lpstr>  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 Model Deployment System</dc:title>
  <dc:creator>Lenovo</dc:creator>
  <cp:lastModifiedBy>Lenovo</cp:lastModifiedBy>
  <cp:revision>6</cp:revision>
  <dcterms:created xsi:type="dcterms:W3CDTF">2026-05-03T18:09:35Z</dcterms:created>
  <dcterms:modified xsi:type="dcterms:W3CDTF">2026-05-03T19:31:19Z</dcterms:modified>
</cp:coreProperties>
</file>